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Alegreya Sans SC" charset="1" panose="00000500000000000000"/>
      <p:regular r:id="rId20"/>
    </p:embeddedFont>
    <p:embeddedFont>
      <p:font typeface="Alegreya Sans SC Bold" charset="1" panose="00000800000000000000"/>
      <p:regular r:id="rId21"/>
    </p:embeddedFont>
    <p:embeddedFont>
      <p:font typeface="Aileron Bold" charset="1" panose="00000800000000000000"/>
      <p:regular r:id="rId22"/>
    </p:embeddedFont>
    <p:embeddedFont>
      <p:font typeface="Aileron" charset="1" panose="000005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0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4.jpe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5.jpe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9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0"/>
                </a:move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70980" y="2416202"/>
            <a:ext cx="13968571" cy="773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72"/>
              </a:lnSpc>
            </a:pPr>
            <a:r>
              <a:rPr lang="en-US" sz="4834">
                <a:solidFill>
                  <a:srgbClr val="000000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Secure Digital Banking Platform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70980" y="3435553"/>
            <a:ext cx="9185706" cy="2553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93"/>
              </a:lnSpc>
            </a:pPr>
            <a:r>
              <a:rPr lang="en-US" b="true" sz="5975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with Transaction Management System</a:t>
            </a:r>
          </a:p>
          <a:p>
            <a:pPr algn="l" marL="0" indent="0" lvl="0">
              <a:lnSpc>
                <a:spcPts val="6393"/>
              </a:lnSpc>
            </a:pPr>
            <a:r>
              <a:rPr lang="en-US" b="true" sz="5975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Infosys Internship Project 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005397" y="6339899"/>
            <a:ext cx="6984285" cy="3208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9"/>
              </a:lnSpc>
            </a:pPr>
            <a:r>
              <a:rPr lang="en-US" sz="3317">
                <a:solidFill>
                  <a:srgbClr val="000000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Submitted By:</a:t>
            </a:r>
          </a:p>
          <a:p>
            <a:pPr algn="l">
              <a:lnSpc>
                <a:spcPts val="3549"/>
              </a:lnSpc>
            </a:pPr>
            <a:r>
              <a:rPr lang="en-US" sz="3317">
                <a:solidFill>
                  <a:srgbClr val="000000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Akshay Vardhan Devarakonda Ashlesha Patil </a:t>
            </a:r>
          </a:p>
          <a:p>
            <a:pPr algn="l">
              <a:lnSpc>
                <a:spcPts val="3549"/>
              </a:lnSpc>
            </a:pPr>
            <a:r>
              <a:rPr lang="en-US" sz="3317">
                <a:solidFill>
                  <a:srgbClr val="000000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Karishma Chinthakunta </a:t>
            </a:r>
          </a:p>
          <a:p>
            <a:pPr algn="l">
              <a:lnSpc>
                <a:spcPts val="3549"/>
              </a:lnSpc>
            </a:pPr>
            <a:r>
              <a:rPr lang="en-US" sz="3317">
                <a:solidFill>
                  <a:srgbClr val="000000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Rajdeep Kala </a:t>
            </a:r>
          </a:p>
          <a:p>
            <a:pPr algn="l">
              <a:lnSpc>
                <a:spcPts val="3549"/>
              </a:lnSpc>
            </a:pPr>
            <a:r>
              <a:rPr lang="en-US" sz="3317">
                <a:solidFill>
                  <a:srgbClr val="000000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Mudyadam Soumya </a:t>
            </a:r>
          </a:p>
          <a:p>
            <a:pPr algn="l" marL="0" indent="0" lvl="0">
              <a:lnSpc>
                <a:spcPts val="3549"/>
              </a:lnSpc>
            </a:pPr>
            <a:r>
              <a:rPr lang="en-US" sz="3317">
                <a:solidFill>
                  <a:srgbClr val="000000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Sowndarya Lakshmi 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70980" y="7309952"/>
            <a:ext cx="5260300" cy="648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14"/>
              </a:lnSpc>
              <a:spcBef>
                <a:spcPct val="0"/>
              </a:spcBef>
            </a:pPr>
            <a:r>
              <a:rPr lang="en-US" b="true" sz="3515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Mentor: Suramya Biswas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119171" y="3091339"/>
            <a:ext cx="11135643" cy="5138605"/>
            <a:chOff x="0" y="0"/>
            <a:chExt cx="2932844" cy="13533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32844" cy="1353377"/>
            </a:xfrm>
            <a:custGeom>
              <a:avLst/>
              <a:gdLst/>
              <a:ahLst/>
              <a:cxnLst/>
              <a:rect r="r" b="b" t="t" l="l"/>
              <a:pathLst>
                <a:path h="1353377" w="2932844">
                  <a:moveTo>
                    <a:pt x="35457" y="0"/>
                  </a:moveTo>
                  <a:lnTo>
                    <a:pt x="2897387" y="0"/>
                  </a:lnTo>
                  <a:cubicBezTo>
                    <a:pt x="2906791" y="0"/>
                    <a:pt x="2915810" y="3736"/>
                    <a:pt x="2922459" y="10385"/>
                  </a:cubicBezTo>
                  <a:cubicBezTo>
                    <a:pt x="2929109" y="17035"/>
                    <a:pt x="2932844" y="26053"/>
                    <a:pt x="2932844" y="35457"/>
                  </a:cubicBezTo>
                  <a:lnTo>
                    <a:pt x="2932844" y="1317920"/>
                  </a:lnTo>
                  <a:cubicBezTo>
                    <a:pt x="2932844" y="1327324"/>
                    <a:pt x="2929109" y="1336343"/>
                    <a:pt x="2922459" y="1342992"/>
                  </a:cubicBezTo>
                  <a:cubicBezTo>
                    <a:pt x="2915810" y="1349642"/>
                    <a:pt x="2906791" y="1353377"/>
                    <a:pt x="2897387" y="1353377"/>
                  </a:cubicBezTo>
                  <a:lnTo>
                    <a:pt x="35457" y="1353377"/>
                  </a:lnTo>
                  <a:cubicBezTo>
                    <a:pt x="26053" y="1353377"/>
                    <a:pt x="17035" y="1349642"/>
                    <a:pt x="10385" y="1342992"/>
                  </a:cubicBezTo>
                  <a:cubicBezTo>
                    <a:pt x="3736" y="1336343"/>
                    <a:pt x="0" y="1327324"/>
                    <a:pt x="0" y="1317920"/>
                  </a:cubicBezTo>
                  <a:lnTo>
                    <a:pt x="0" y="35457"/>
                  </a:lnTo>
                  <a:cubicBezTo>
                    <a:pt x="0" y="26053"/>
                    <a:pt x="3736" y="17035"/>
                    <a:pt x="10385" y="10385"/>
                  </a:cubicBezTo>
                  <a:cubicBezTo>
                    <a:pt x="17035" y="3736"/>
                    <a:pt x="26053" y="0"/>
                    <a:pt x="35457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932844" cy="1391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149540" y="1263387"/>
            <a:ext cx="4715387" cy="8229600"/>
          </a:xfrm>
          <a:custGeom>
            <a:avLst/>
            <a:gdLst/>
            <a:ahLst/>
            <a:cxnLst/>
            <a:rect r="r" b="b" t="t" l="l"/>
            <a:pathLst>
              <a:path h="8229600" w="4715387">
                <a:moveTo>
                  <a:pt x="0" y="0"/>
                </a:moveTo>
                <a:lnTo>
                  <a:pt x="4715387" y="0"/>
                </a:lnTo>
                <a:lnTo>
                  <a:pt x="471538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4942" t="0" r="-15952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410192" y="1519389"/>
            <a:ext cx="8531143" cy="1147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02"/>
              </a:lnSpc>
            </a:pPr>
            <a:r>
              <a:rPr lang="en-US" b="true" sz="7198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Project Introduction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39543" y="4024082"/>
            <a:ext cx="9894900" cy="317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</a:pPr>
            <a:r>
              <a:rPr lang="en-US" sz="272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This project aims to develop a Secure Digital Banking Platform that enables customers to manage their finances safely and efficiently. The platform provides comprehensive account management, seamless transaction processing, and robust security — replacing manual banking processes with a modern, scalable web-based solution built for reliability and ease of use.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82124" y="2911720"/>
            <a:ext cx="12376386" cy="5138605"/>
            <a:chOff x="0" y="0"/>
            <a:chExt cx="3259624" cy="13533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59624" cy="1353377"/>
            </a:xfrm>
            <a:custGeom>
              <a:avLst/>
              <a:gdLst/>
              <a:ahLst/>
              <a:cxnLst/>
              <a:rect r="r" b="b" t="t" l="l"/>
              <a:pathLst>
                <a:path h="1353377" w="3259624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1049902" y="1495688"/>
            <a:ext cx="6494098" cy="8229600"/>
          </a:xfrm>
          <a:custGeom>
            <a:avLst/>
            <a:gdLst/>
            <a:ahLst/>
            <a:cxnLst/>
            <a:rect r="r" b="b" t="t" l="l"/>
            <a:pathLst>
              <a:path h="8229600" w="6494098">
                <a:moveTo>
                  <a:pt x="0" y="0"/>
                </a:moveTo>
                <a:lnTo>
                  <a:pt x="6494098" y="0"/>
                </a:lnTo>
                <a:lnTo>
                  <a:pt x="649409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46161" t="0" r="-44401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885282" y="1627207"/>
            <a:ext cx="8531143" cy="1284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54"/>
              </a:lnSpc>
            </a:pPr>
            <a:r>
              <a:rPr lang="en-US" b="true" sz="7994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Problem Statement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887899"/>
            <a:ext cx="9894900" cy="3110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62"/>
              </a:lnSpc>
            </a:pPr>
            <a:r>
              <a:rPr lang="en-US" sz="231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Traditional banking processes rely heavily on manual operations, leading to inefficiencies, human errors, and security vulnerabilities. Customers face challenges with slow transaction processing, lack of real-time account visibility, and limited access to banking services. There is a critical need for a secure, scalable digital banking platform that enables safe authentication, seamless transaction management, and reliable data integrity for modern financial operations.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715312" y="777652"/>
            <a:ext cx="13533123" cy="8947636"/>
          </a:xfrm>
          <a:custGeom>
            <a:avLst/>
            <a:gdLst/>
            <a:ahLst/>
            <a:cxnLst/>
            <a:rect r="r" b="b" t="t" l="l"/>
            <a:pathLst>
              <a:path h="8947636" w="13533123">
                <a:moveTo>
                  <a:pt x="0" y="0"/>
                </a:moveTo>
                <a:lnTo>
                  <a:pt x="13533124" y="0"/>
                </a:lnTo>
                <a:lnTo>
                  <a:pt x="13533124" y="8947636"/>
                </a:lnTo>
                <a:lnTo>
                  <a:pt x="0" y="89476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289" r="0" b="-289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110214" y="3365141"/>
            <a:ext cx="12376386" cy="5138605"/>
            <a:chOff x="0" y="0"/>
            <a:chExt cx="3259624" cy="13533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59624" cy="1353377"/>
            </a:xfrm>
            <a:custGeom>
              <a:avLst/>
              <a:gdLst/>
              <a:ahLst/>
              <a:cxnLst/>
              <a:rect r="r" b="b" t="t" l="l"/>
              <a:pathLst>
                <a:path h="1353377" w="3259624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878428" y="1509864"/>
            <a:ext cx="8531143" cy="1284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54"/>
              </a:lnSpc>
            </a:pPr>
            <a:r>
              <a:rPr lang="en-US" b="true" sz="7994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Objectives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19787" y="4344403"/>
            <a:ext cx="4733662" cy="2705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14"/>
              </a:lnSpc>
            </a:pPr>
            <a:r>
              <a:rPr lang="en-US" b="true" sz="3515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Secure Authentication</a:t>
            </a:r>
          </a:p>
          <a:p>
            <a:pPr algn="just" marL="0" indent="0" lvl="0">
              <a:lnSpc>
                <a:spcPts val="5414"/>
              </a:lnSpc>
            </a:pPr>
            <a:r>
              <a:rPr lang="en-US" b="true" sz="3515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Account Management</a:t>
            </a:r>
          </a:p>
          <a:p>
            <a:pPr algn="just" marL="0" indent="0" lvl="0">
              <a:lnSpc>
                <a:spcPts val="5414"/>
              </a:lnSpc>
            </a:pPr>
            <a:r>
              <a:rPr lang="en-US" b="true" sz="3515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Deposit &amp; Withdrawal</a:t>
            </a:r>
          </a:p>
          <a:p>
            <a:pPr algn="just" marL="0" indent="0" lvl="0">
              <a:lnSpc>
                <a:spcPts val="5414"/>
              </a:lnSpc>
            </a:pPr>
            <a:r>
              <a:rPr lang="en-US" b="true" sz="3515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Fund Transfers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81874" y="4344403"/>
            <a:ext cx="5395153" cy="2705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14"/>
              </a:lnSpc>
            </a:pPr>
            <a:r>
              <a:rPr lang="en-US" b="true" sz="3515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Transaction Tracking</a:t>
            </a:r>
          </a:p>
          <a:p>
            <a:pPr algn="just" marL="0" indent="0" lvl="0">
              <a:lnSpc>
                <a:spcPts val="5414"/>
              </a:lnSpc>
            </a:pPr>
            <a:r>
              <a:rPr lang="en-US" b="true" sz="3515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Balance Monitoring</a:t>
            </a:r>
          </a:p>
          <a:p>
            <a:pPr algn="just" marL="0" indent="0" lvl="0">
              <a:lnSpc>
                <a:spcPts val="5414"/>
              </a:lnSpc>
            </a:pPr>
            <a:r>
              <a:rPr lang="en-US" b="true" sz="3515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Scalable Web Interface</a:t>
            </a:r>
          </a:p>
          <a:p>
            <a:pPr algn="just" marL="0" indent="0" lvl="0">
              <a:lnSpc>
                <a:spcPts val="5414"/>
              </a:lnSpc>
            </a:pPr>
            <a:r>
              <a:rPr lang="en-US" b="true" sz="3515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Data Security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19025" y="2756176"/>
            <a:ext cx="12376386" cy="5138605"/>
            <a:chOff x="0" y="0"/>
            <a:chExt cx="3259624" cy="13533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59624" cy="1353377"/>
            </a:xfrm>
            <a:custGeom>
              <a:avLst/>
              <a:gdLst/>
              <a:ahLst/>
              <a:cxnLst/>
              <a:rect r="r" b="b" t="t" l="l"/>
              <a:pathLst>
                <a:path h="1353377" w="3259624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373190" y="1028700"/>
            <a:ext cx="5472684" cy="8229600"/>
          </a:xfrm>
          <a:custGeom>
            <a:avLst/>
            <a:gdLst/>
            <a:ahLst/>
            <a:cxnLst/>
            <a:rect r="r" b="b" t="t" l="l"/>
            <a:pathLst>
              <a:path h="8229600" w="5472684">
                <a:moveTo>
                  <a:pt x="0" y="0"/>
                </a:moveTo>
                <a:lnTo>
                  <a:pt x="5472684" y="0"/>
                </a:lnTo>
                <a:lnTo>
                  <a:pt x="547268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380540" y="1564993"/>
            <a:ext cx="8531143" cy="1191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61"/>
              </a:lnSpc>
            </a:pPr>
            <a:r>
              <a:rPr lang="en-US" b="true" sz="7533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System Architecture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98662" y="3903347"/>
            <a:ext cx="9894900" cy="2777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89"/>
              </a:lnSpc>
            </a:pPr>
            <a:r>
              <a:rPr lang="en-US" sz="207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React Frontend (Port 3737) → Spring Boot Backend (Port 9797) → MySQL Database</a:t>
            </a:r>
          </a:p>
          <a:p>
            <a:pPr algn="ctr" marL="0" indent="0" lvl="0">
              <a:lnSpc>
                <a:spcPts val="3189"/>
              </a:lnSpc>
            </a:pPr>
            <a:r>
              <a:rPr lang="en-US" sz="207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Presentation Layer: React + HTML/CSS/Bootstrap UI components and dashboards.</a:t>
            </a:r>
          </a:p>
          <a:p>
            <a:pPr algn="ctr" marL="0" indent="0" lvl="0">
              <a:lnSpc>
                <a:spcPts val="3189"/>
              </a:lnSpc>
            </a:pPr>
            <a:r>
              <a:rPr lang="en-US" sz="207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Business Logic Layer: Spring Boot REST APIs with Spring Security and Spring Data JPA.</a:t>
            </a:r>
          </a:p>
          <a:p>
            <a:pPr algn="ctr" marL="0" indent="0" lvl="0">
              <a:lnSpc>
                <a:spcPts val="3189"/>
              </a:lnSpc>
            </a:pPr>
            <a:r>
              <a:rPr lang="en-US" sz="207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Data Layer: MySQL relational database for accounts, transactions, and user data.</a:t>
            </a:r>
          </a:p>
          <a:p>
            <a:pPr algn="ctr" marL="0" indent="0" lvl="0">
              <a:lnSpc>
                <a:spcPts val="3189"/>
              </a:lnSpc>
            </a:pPr>
            <a:r>
              <a:rPr lang="en-US" sz="207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Request flow: User interacts with React UI → HTTP REST calls to Spring Boot → JPA/Hibernate queries MySQL → Response returned to frontend.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33186" y="3040383"/>
            <a:ext cx="9501468" cy="5138605"/>
            <a:chOff x="0" y="0"/>
            <a:chExt cx="2502444" cy="13533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02444" cy="1353377"/>
            </a:xfrm>
            <a:custGeom>
              <a:avLst/>
              <a:gdLst/>
              <a:ahLst/>
              <a:cxnLst/>
              <a:rect r="r" b="b" t="t" l="l"/>
              <a:pathLst>
                <a:path h="1353377" w="2502444">
                  <a:moveTo>
                    <a:pt x="41555" y="0"/>
                  </a:moveTo>
                  <a:lnTo>
                    <a:pt x="2460889" y="0"/>
                  </a:lnTo>
                  <a:cubicBezTo>
                    <a:pt x="2483839" y="0"/>
                    <a:pt x="2502444" y="18605"/>
                    <a:pt x="2502444" y="41555"/>
                  </a:cubicBezTo>
                  <a:lnTo>
                    <a:pt x="2502444" y="1311822"/>
                  </a:lnTo>
                  <a:cubicBezTo>
                    <a:pt x="2502444" y="1334772"/>
                    <a:pt x="2483839" y="1353377"/>
                    <a:pt x="2460889" y="1353377"/>
                  </a:cubicBezTo>
                  <a:lnTo>
                    <a:pt x="41555" y="1353377"/>
                  </a:lnTo>
                  <a:cubicBezTo>
                    <a:pt x="18605" y="1353377"/>
                    <a:pt x="0" y="1334772"/>
                    <a:pt x="0" y="1311822"/>
                  </a:cubicBezTo>
                  <a:lnTo>
                    <a:pt x="0" y="41555"/>
                  </a:lnTo>
                  <a:cubicBezTo>
                    <a:pt x="0" y="18605"/>
                    <a:pt x="18605" y="0"/>
                    <a:pt x="41555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502444" cy="1391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912937" y="1028700"/>
            <a:ext cx="7237338" cy="8696588"/>
          </a:xfrm>
          <a:custGeom>
            <a:avLst/>
            <a:gdLst/>
            <a:ahLst/>
            <a:cxnLst/>
            <a:rect r="r" b="b" t="t" l="l"/>
            <a:pathLst>
              <a:path h="8696588" w="7237338">
                <a:moveTo>
                  <a:pt x="0" y="0"/>
                </a:moveTo>
                <a:lnTo>
                  <a:pt x="7237338" y="0"/>
                </a:lnTo>
                <a:lnTo>
                  <a:pt x="7237338" y="8696588"/>
                </a:lnTo>
                <a:lnTo>
                  <a:pt x="0" y="86965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0" r="-4037" b="-1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50473" y="1471663"/>
            <a:ext cx="8531143" cy="1284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54"/>
              </a:lnSpc>
            </a:pPr>
            <a:r>
              <a:rPr lang="en-US" b="true" sz="7994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Technology Stack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98662" y="4049128"/>
            <a:ext cx="4733662" cy="301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865"/>
              </a:lnSpc>
            </a:pPr>
            <a:r>
              <a:rPr lang="en-US" b="true" sz="3159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Java 17</a:t>
            </a:r>
          </a:p>
          <a:p>
            <a:pPr algn="just" marL="0" indent="0" lvl="0">
              <a:lnSpc>
                <a:spcPts val="4865"/>
              </a:lnSpc>
            </a:pPr>
            <a:r>
              <a:rPr lang="en-US" b="true" sz="3159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Spring Boot</a:t>
            </a:r>
          </a:p>
          <a:p>
            <a:pPr algn="just" marL="0" indent="0" lvl="0">
              <a:lnSpc>
                <a:spcPts val="4865"/>
              </a:lnSpc>
            </a:pPr>
            <a:r>
              <a:rPr lang="en-US" b="true" sz="3159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Spring Web</a:t>
            </a:r>
          </a:p>
          <a:p>
            <a:pPr algn="just" marL="0" indent="0" lvl="0">
              <a:lnSpc>
                <a:spcPts val="4865"/>
              </a:lnSpc>
            </a:pPr>
            <a:r>
              <a:rPr lang="en-US" b="true" sz="3159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Spring Security</a:t>
            </a:r>
          </a:p>
          <a:p>
            <a:pPr algn="just" marL="0" indent="0" lvl="0">
              <a:lnSpc>
                <a:spcPts val="4865"/>
              </a:lnSpc>
            </a:pPr>
            <a:r>
              <a:rPr lang="en-US" b="true" sz="3159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Spring Data JPA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886463" y="4406927"/>
            <a:ext cx="4827993" cy="240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865"/>
              </a:lnSpc>
            </a:pPr>
            <a:r>
              <a:rPr lang="en-US" b="true" sz="3159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MySQL</a:t>
            </a:r>
          </a:p>
          <a:p>
            <a:pPr algn="just" marL="0" indent="0" lvl="0">
              <a:lnSpc>
                <a:spcPts val="4865"/>
              </a:lnSpc>
            </a:pPr>
            <a:r>
              <a:rPr lang="en-US" b="true" sz="3159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React</a:t>
            </a:r>
          </a:p>
          <a:p>
            <a:pPr algn="just" marL="0" indent="0" lvl="0">
              <a:lnSpc>
                <a:spcPts val="4865"/>
              </a:lnSpc>
            </a:pPr>
            <a:r>
              <a:rPr lang="en-US" b="true" sz="3159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HTML / CSS / Bootstrap</a:t>
            </a:r>
          </a:p>
          <a:p>
            <a:pPr algn="just" marL="0" indent="0" lvl="0">
              <a:lnSpc>
                <a:spcPts val="4865"/>
              </a:lnSpc>
            </a:pPr>
            <a:r>
              <a:rPr lang="en-US" b="true" sz="3159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Maven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19025" y="2756176"/>
            <a:ext cx="8999722" cy="3107921"/>
            <a:chOff x="0" y="0"/>
            <a:chExt cx="2370297" cy="81854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70297" cy="818547"/>
            </a:xfrm>
            <a:custGeom>
              <a:avLst/>
              <a:gdLst/>
              <a:ahLst/>
              <a:cxnLst/>
              <a:rect r="r" b="b" t="t" l="l"/>
              <a:pathLst>
                <a:path h="818547" w="2370297">
                  <a:moveTo>
                    <a:pt x="43872" y="0"/>
                  </a:moveTo>
                  <a:lnTo>
                    <a:pt x="2326425" y="0"/>
                  </a:lnTo>
                  <a:cubicBezTo>
                    <a:pt x="2350655" y="0"/>
                    <a:pt x="2370297" y="19642"/>
                    <a:pt x="2370297" y="43872"/>
                  </a:cubicBezTo>
                  <a:lnTo>
                    <a:pt x="2370297" y="774675"/>
                  </a:lnTo>
                  <a:cubicBezTo>
                    <a:pt x="2370297" y="786310"/>
                    <a:pt x="2365675" y="797469"/>
                    <a:pt x="2357447" y="805697"/>
                  </a:cubicBezTo>
                  <a:cubicBezTo>
                    <a:pt x="2349219" y="813925"/>
                    <a:pt x="2338060" y="818547"/>
                    <a:pt x="2326425" y="818547"/>
                  </a:cubicBezTo>
                  <a:lnTo>
                    <a:pt x="43872" y="818547"/>
                  </a:lnTo>
                  <a:cubicBezTo>
                    <a:pt x="19642" y="818547"/>
                    <a:pt x="0" y="798905"/>
                    <a:pt x="0" y="774675"/>
                  </a:cubicBezTo>
                  <a:lnTo>
                    <a:pt x="0" y="43872"/>
                  </a:lnTo>
                  <a:cubicBezTo>
                    <a:pt x="0" y="32237"/>
                    <a:pt x="4622" y="21078"/>
                    <a:pt x="12850" y="12850"/>
                  </a:cubicBezTo>
                  <a:cubicBezTo>
                    <a:pt x="21078" y="4622"/>
                    <a:pt x="32237" y="0"/>
                    <a:pt x="43872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370297" cy="856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32823" y="6302246"/>
            <a:ext cx="9085924" cy="3573299"/>
            <a:chOff x="0" y="0"/>
            <a:chExt cx="2393001" cy="9411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93001" cy="941116"/>
            </a:xfrm>
            <a:custGeom>
              <a:avLst/>
              <a:gdLst/>
              <a:ahLst/>
              <a:cxnLst/>
              <a:rect r="r" b="b" t="t" l="l"/>
              <a:pathLst>
                <a:path h="941116" w="2393001">
                  <a:moveTo>
                    <a:pt x="43456" y="0"/>
                  </a:moveTo>
                  <a:lnTo>
                    <a:pt x="2349545" y="0"/>
                  </a:lnTo>
                  <a:cubicBezTo>
                    <a:pt x="2361070" y="0"/>
                    <a:pt x="2372123" y="4578"/>
                    <a:pt x="2380273" y="12728"/>
                  </a:cubicBezTo>
                  <a:cubicBezTo>
                    <a:pt x="2388422" y="20878"/>
                    <a:pt x="2393001" y="31931"/>
                    <a:pt x="2393001" y="43456"/>
                  </a:cubicBezTo>
                  <a:lnTo>
                    <a:pt x="2393001" y="897660"/>
                  </a:lnTo>
                  <a:cubicBezTo>
                    <a:pt x="2393001" y="909185"/>
                    <a:pt x="2388422" y="920238"/>
                    <a:pt x="2380273" y="928388"/>
                  </a:cubicBezTo>
                  <a:cubicBezTo>
                    <a:pt x="2372123" y="936537"/>
                    <a:pt x="2361070" y="941116"/>
                    <a:pt x="2349545" y="941116"/>
                  </a:cubicBezTo>
                  <a:lnTo>
                    <a:pt x="43456" y="941116"/>
                  </a:lnTo>
                  <a:cubicBezTo>
                    <a:pt x="31931" y="941116"/>
                    <a:pt x="20878" y="936537"/>
                    <a:pt x="12728" y="928388"/>
                  </a:cubicBezTo>
                  <a:cubicBezTo>
                    <a:pt x="4578" y="920238"/>
                    <a:pt x="0" y="909185"/>
                    <a:pt x="0" y="897660"/>
                  </a:cubicBezTo>
                  <a:lnTo>
                    <a:pt x="0" y="43456"/>
                  </a:lnTo>
                  <a:cubicBezTo>
                    <a:pt x="0" y="31931"/>
                    <a:pt x="4578" y="20878"/>
                    <a:pt x="12728" y="12728"/>
                  </a:cubicBezTo>
                  <a:cubicBezTo>
                    <a:pt x="20878" y="4578"/>
                    <a:pt x="31931" y="0"/>
                    <a:pt x="4345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393001" cy="9792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219198" y="730651"/>
            <a:ext cx="7841807" cy="8994637"/>
          </a:xfrm>
          <a:custGeom>
            <a:avLst/>
            <a:gdLst/>
            <a:ahLst/>
            <a:cxnLst/>
            <a:rect r="r" b="b" t="t" l="l"/>
            <a:pathLst>
              <a:path h="8994637" w="7841807">
                <a:moveTo>
                  <a:pt x="0" y="0"/>
                </a:moveTo>
                <a:lnTo>
                  <a:pt x="7841806" y="0"/>
                </a:lnTo>
                <a:lnTo>
                  <a:pt x="7841806" y="8994637"/>
                </a:lnTo>
                <a:lnTo>
                  <a:pt x="0" y="899463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76107" t="0" r="-46727" b="-167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629741" y="1353405"/>
            <a:ext cx="6514259" cy="1284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54"/>
              </a:lnSpc>
            </a:pPr>
            <a:r>
              <a:rPr lang="en-US" b="true" sz="7994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Main Modules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77787" y="2996248"/>
            <a:ext cx="8247511" cy="2551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37"/>
              </a:lnSpc>
            </a:pPr>
            <a:r>
              <a:rPr lang="en-US" b="true" sz="223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Customer/User Module</a:t>
            </a:r>
            <a:r>
              <a:rPr lang="en-US" sz="22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: Manages user profiles, registration, and personal account details.</a:t>
            </a:r>
          </a:p>
          <a:p>
            <a:pPr algn="l" marL="0" indent="0" lvl="0">
              <a:lnSpc>
                <a:spcPts val="3437"/>
              </a:lnSpc>
            </a:pPr>
            <a:r>
              <a:rPr lang="en-US" b="true" sz="223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Account Module</a:t>
            </a:r>
            <a:r>
              <a:rPr lang="en-US" sz="22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: Handles account creation, balance tracking, and account operations.</a:t>
            </a:r>
          </a:p>
          <a:p>
            <a:pPr algn="l" marL="0" indent="0" lvl="0">
              <a:lnSpc>
                <a:spcPts val="3437"/>
              </a:lnSpc>
            </a:pPr>
            <a:r>
              <a:rPr lang="en-US" b="true" sz="223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Transaction Module</a:t>
            </a:r>
            <a:r>
              <a:rPr lang="en-US" sz="22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: Records and processes all financial transactions with full history.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95131" y="6773552"/>
            <a:ext cx="8248869" cy="2551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37"/>
              </a:lnSpc>
            </a:pPr>
            <a:r>
              <a:rPr lang="en-US" b="true" sz="223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Payments Module</a:t>
            </a:r>
            <a:r>
              <a:rPr lang="en-US" sz="22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: Facilitates fund transfers and payment processing between accounts.</a:t>
            </a:r>
          </a:p>
          <a:p>
            <a:pPr algn="l" marL="0" indent="0" lvl="0">
              <a:lnSpc>
                <a:spcPts val="3437"/>
              </a:lnSpc>
            </a:pPr>
            <a:r>
              <a:rPr lang="en-US" b="true" sz="223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Loans Module</a:t>
            </a:r>
            <a:r>
              <a:rPr lang="en-US" sz="22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: Manages loan applications, approvals, and repayment tracking.</a:t>
            </a:r>
          </a:p>
          <a:p>
            <a:pPr algn="l" marL="0" indent="0" lvl="0">
              <a:lnSpc>
                <a:spcPts val="3437"/>
              </a:lnSpc>
            </a:pPr>
            <a:r>
              <a:rPr lang="en-US" b="true" sz="223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Authentication &amp; Security Module</a:t>
            </a:r>
            <a:r>
              <a:rPr lang="en-US" sz="22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: Enforces secure login, authorization, and API access control.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838497" y="3400594"/>
            <a:ext cx="11007377" cy="5138605"/>
            <a:chOff x="0" y="0"/>
            <a:chExt cx="2899062" cy="13533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99062" cy="1353377"/>
            </a:xfrm>
            <a:custGeom>
              <a:avLst/>
              <a:gdLst/>
              <a:ahLst/>
              <a:cxnLst/>
              <a:rect r="r" b="b" t="t" l="l"/>
              <a:pathLst>
                <a:path h="1353377" w="2899062">
                  <a:moveTo>
                    <a:pt x="35870" y="0"/>
                  </a:moveTo>
                  <a:lnTo>
                    <a:pt x="2863192" y="0"/>
                  </a:lnTo>
                  <a:cubicBezTo>
                    <a:pt x="2883003" y="0"/>
                    <a:pt x="2899062" y="16060"/>
                    <a:pt x="2899062" y="35870"/>
                  </a:cubicBezTo>
                  <a:lnTo>
                    <a:pt x="2899062" y="1317507"/>
                  </a:lnTo>
                  <a:cubicBezTo>
                    <a:pt x="2899062" y="1337318"/>
                    <a:pt x="2883003" y="1353377"/>
                    <a:pt x="2863192" y="1353377"/>
                  </a:cubicBezTo>
                  <a:lnTo>
                    <a:pt x="35870" y="1353377"/>
                  </a:lnTo>
                  <a:cubicBezTo>
                    <a:pt x="16060" y="1353377"/>
                    <a:pt x="0" y="1337318"/>
                    <a:pt x="0" y="1317507"/>
                  </a:cubicBezTo>
                  <a:lnTo>
                    <a:pt x="0" y="35870"/>
                  </a:lnTo>
                  <a:cubicBezTo>
                    <a:pt x="0" y="16060"/>
                    <a:pt x="16060" y="0"/>
                    <a:pt x="35870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899062" cy="1391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856181" y="795206"/>
            <a:ext cx="5193090" cy="8696588"/>
          </a:xfrm>
          <a:custGeom>
            <a:avLst/>
            <a:gdLst/>
            <a:ahLst/>
            <a:cxnLst/>
            <a:rect r="r" b="b" t="t" l="l"/>
            <a:pathLst>
              <a:path h="8696588" w="5193090">
                <a:moveTo>
                  <a:pt x="0" y="0"/>
                </a:moveTo>
                <a:lnTo>
                  <a:pt x="5193089" y="0"/>
                </a:lnTo>
                <a:lnTo>
                  <a:pt x="5193089" y="8696588"/>
                </a:lnTo>
                <a:lnTo>
                  <a:pt x="0" y="86965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2536" t="0" r="-54928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364400" y="1963025"/>
            <a:ext cx="8531143" cy="934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68"/>
              </a:lnSpc>
            </a:pPr>
            <a:r>
              <a:rPr lang="en-US" b="true" sz="5858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Authentication &amp; Security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64400" y="4416452"/>
            <a:ext cx="9894900" cy="3011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14"/>
              </a:lnSpc>
            </a:pPr>
            <a:r>
              <a:rPr lang="en-US" sz="260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Spring Security framework integrated for robust access control and API protection. Password encryption using BCrypt hashing ensures secure credential storage. Role-based authorization restricts access to sensitive banking operations. All REST API endpoints are secured with authentication filters. Session management and CSRF protection guard against common web vulnerabilities.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17224" y="1444096"/>
            <a:ext cx="5044319" cy="7814204"/>
          </a:xfrm>
          <a:custGeom>
            <a:avLst/>
            <a:gdLst/>
            <a:ahLst/>
            <a:cxnLst/>
            <a:rect r="r" b="b" t="t" l="l"/>
            <a:pathLst>
              <a:path h="7814204" w="5044319">
                <a:moveTo>
                  <a:pt x="0" y="0"/>
                </a:moveTo>
                <a:lnTo>
                  <a:pt x="5044319" y="0"/>
                </a:lnTo>
                <a:lnTo>
                  <a:pt x="5044319" y="7814204"/>
                </a:lnTo>
                <a:lnTo>
                  <a:pt x="0" y="78142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9904" t="0" r="-72461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24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24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148650" y="3173630"/>
            <a:ext cx="11092349" cy="2466279"/>
            <a:chOff x="0" y="0"/>
            <a:chExt cx="2921442" cy="6495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21442" cy="649555"/>
            </a:xfrm>
            <a:custGeom>
              <a:avLst/>
              <a:gdLst/>
              <a:ahLst/>
              <a:cxnLst/>
              <a:rect r="r" b="b" t="t" l="l"/>
              <a:pathLst>
                <a:path h="649555" w="2921442">
                  <a:moveTo>
                    <a:pt x="35596" y="0"/>
                  </a:moveTo>
                  <a:lnTo>
                    <a:pt x="2885846" y="0"/>
                  </a:lnTo>
                  <a:cubicBezTo>
                    <a:pt x="2895287" y="0"/>
                    <a:pt x="2904341" y="3750"/>
                    <a:pt x="2911016" y="10426"/>
                  </a:cubicBezTo>
                  <a:cubicBezTo>
                    <a:pt x="2917691" y="17101"/>
                    <a:pt x="2921442" y="26155"/>
                    <a:pt x="2921442" y="35596"/>
                  </a:cubicBezTo>
                  <a:lnTo>
                    <a:pt x="2921442" y="613959"/>
                  </a:lnTo>
                  <a:cubicBezTo>
                    <a:pt x="2921442" y="623400"/>
                    <a:pt x="2917691" y="632454"/>
                    <a:pt x="2911016" y="639129"/>
                  </a:cubicBezTo>
                  <a:cubicBezTo>
                    <a:pt x="2904341" y="645805"/>
                    <a:pt x="2895287" y="649555"/>
                    <a:pt x="2885846" y="649555"/>
                  </a:cubicBezTo>
                  <a:lnTo>
                    <a:pt x="35596" y="649555"/>
                  </a:lnTo>
                  <a:cubicBezTo>
                    <a:pt x="26155" y="649555"/>
                    <a:pt x="17101" y="645805"/>
                    <a:pt x="10426" y="639129"/>
                  </a:cubicBezTo>
                  <a:cubicBezTo>
                    <a:pt x="3750" y="632454"/>
                    <a:pt x="0" y="623400"/>
                    <a:pt x="0" y="613959"/>
                  </a:cubicBezTo>
                  <a:lnTo>
                    <a:pt x="0" y="35596"/>
                  </a:lnTo>
                  <a:cubicBezTo>
                    <a:pt x="0" y="26155"/>
                    <a:pt x="3750" y="17101"/>
                    <a:pt x="10426" y="10426"/>
                  </a:cubicBezTo>
                  <a:cubicBezTo>
                    <a:pt x="17101" y="3750"/>
                    <a:pt x="26155" y="0"/>
                    <a:pt x="3559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921442" cy="687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48650" y="6057363"/>
            <a:ext cx="11092349" cy="2466279"/>
            <a:chOff x="0" y="0"/>
            <a:chExt cx="2921442" cy="6495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21442" cy="649555"/>
            </a:xfrm>
            <a:custGeom>
              <a:avLst/>
              <a:gdLst/>
              <a:ahLst/>
              <a:cxnLst/>
              <a:rect r="r" b="b" t="t" l="l"/>
              <a:pathLst>
                <a:path h="649555" w="2921442">
                  <a:moveTo>
                    <a:pt x="35596" y="0"/>
                  </a:moveTo>
                  <a:lnTo>
                    <a:pt x="2885846" y="0"/>
                  </a:lnTo>
                  <a:cubicBezTo>
                    <a:pt x="2895287" y="0"/>
                    <a:pt x="2904341" y="3750"/>
                    <a:pt x="2911016" y="10426"/>
                  </a:cubicBezTo>
                  <a:cubicBezTo>
                    <a:pt x="2917691" y="17101"/>
                    <a:pt x="2921442" y="26155"/>
                    <a:pt x="2921442" y="35596"/>
                  </a:cubicBezTo>
                  <a:lnTo>
                    <a:pt x="2921442" y="613959"/>
                  </a:lnTo>
                  <a:cubicBezTo>
                    <a:pt x="2921442" y="623400"/>
                    <a:pt x="2917691" y="632454"/>
                    <a:pt x="2911016" y="639129"/>
                  </a:cubicBezTo>
                  <a:cubicBezTo>
                    <a:pt x="2904341" y="645805"/>
                    <a:pt x="2895287" y="649555"/>
                    <a:pt x="2885846" y="649555"/>
                  </a:cubicBezTo>
                  <a:lnTo>
                    <a:pt x="35596" y="649555"/>
                  </a:lnTo>
                  <a:cubicBezTo>
                    <a:pt x="26155" y="649555"/>
                    <a:pt x="17101" y="645805"/>
                    <a:pt x="10426" y="639129"/>
                  </a:cubicBezTo>
                  <a:cubicBezTo>
                    <a:pt x="3750" y="632454"/>
                    <a:pt x="0" y="623400"/>
                    <a:pt x="0" y="613959"/>
                  </a:cubicBezTo>
                  <a:lnTo>
                    <a:pt x="0" y="35596"/>
                  </a:lnTo>
                  <a:cubicBezTo>
                    <a:pt x="0" y="26155"/>
                    <a:pt x="3750" y="17101"/>
                    <a:pt x="10426" y="10426"/>
                  </a:cubicBezTo>
                  <a:cubicBezTo>
                    <a:pt x="17101" y="3750"/>
                    <a:pt x="26155" y="0"/>
                    <a:pt x="3559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921442" cy="687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157389" y="1794678"/>
            <a:ext cx="8531143" cy="659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6"/>
              </a:lnSpc>
            </a:pPr>
            <a:r>
              <a:rPr lang="en-US" b="true" sz="4183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Account &amp; Transaction Management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27893" y="3397250"/>
            <a:ext cx="10066336" cy="1965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47"/>
              </a:lnSpc>
            </a:pPr>
            <a:r>
              <a:rPr lang="en-US" sz="256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Core Operations: Customers can perform deposits, withdrawals, and fund transfers seamlessly. Each operation updates the account balance in real-time via secure REST API calls to the Spring Boot backend, with data persisted in MySQL through JPA/Hibernate.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98662" y="6259992"/>
            <a:ext cx="10066336" cy="1965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47"/>
              </a:lnSpc>
            </a:pPr>
            <a:r>
              <a:rPr lang="en-US" sz="256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Transaction History &amp; Balance Tracking: Users can view complete transaction history with timestamps, types, and amounts. The dashboard displays current balance and a detailed ledger of all past transactions, ensuring full transparency and auditability.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696331" y="1268435"/>
            <a:ext cx="5149543" cy="8229600"/>
          </a:xfrm>
          <a:custGeom>
            <a:avLst/>
            <a:gdLst/>
            <a:ahLst/>
            <a:cxnLst/>
            <a:rect r="r" b="b" t="t" l="l"/>
            <a:pathLst>
              <a:path h="8229600" w="5149543">
                <a:moveTo>
                  <a:pt x="0" y="0"/>
                </a:moveTo>
                <a:lnTo>
                  <a:pt x="5149543" y="0"/>
                </a:lnTo>
                <a:lnTo>
                  <a:pt x="514954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5003" t="0" r="-49995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24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24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19025" y="2973996"/>
            <a:ext cx="12177306" cy="5138605"/>
            <a:chOff x="0" y="0"/>
            <a:chExt cx="3207192" cy="13533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07192" cy="1353377"/>
            </a:xfrm>
            <a:custGeom>
              <a:avLst/>
              <a:gdLst/>
              <a:ahLst/>
              <a:cxnLst/>
              <a:rect r="r" b="b" t="t" l="l"/>
              <a:pathLst>
                <a:path h="1353377" w="3207192">
                  <a:moveTo>
                    <a:pt x="32424" y="0"/>
                  </a:moveTo>
                  <a:lnTo>
                    <a:pt x="3174768" y="0"/>
                  </a:lnTo>
                  <a:cubicBezTo>
                    <a:pt x="3183367" y="0"/>
                    <a:pt x="3191614" y="3416"/>
                    <a:pt x="3197695" y="9497"/>
                  </a:cubicBezTo>
                  <a:cubicBezTo>
                    <a:pt x="3203776" y="15577"/>
                    <a:pt x="3207192" y="23825"/>
                    <a:pt x="3207192" y="32424"/>
                  </a:cubicBezTo>
                  <a:lnTo>
                    <a:pt x="3207192" y="1320953"/>
                  </a:lnTo>
                  <a:cubicBezTo>
                    <a:pt x="3207192" y="1329553"/>
                    <a:pt x="3203776" y="1337800"/>
                    <a:pt x="3197695" y="1343881"/>
                  </a:cubicBezTo>
                  <a:cubicBezTo>
                    <a:pt x="3191614" y="1349961"/>
                    <a:pt x="3183367" y="1353377"/>
                    <a:pt x="3174768" y="1353377"/>
                  </a:cubicBezTo>
                  <a:lnTo>
                    <a:pt x="32424" y="1353377"/>
                  </a:lnTo>
                  <a:cubicBezTo>
                    <a:pt x="23825" y="1353377"/>
                    <a:pt x="15577" y="1349961"/>
                    <a:pt x="9497" y="1343881"/>
                  </a:cubicBezTo>
                  <a:cubicBezTo>
                    <a:pt x="3416" y="1337800"/>
                    <a:pt x="0" y="1329553"/>
                    <a:pt x="0" y="1320953"/>
                  </a:cubicBezTo>
                  <a:lnTo>
                    <a:pt x="0" y="32424"/>
                  </a:lnTo>
                  <a:cubicBezTo>
                    <a:pt x="0" y="23825"/>
                    <a:pt x="3416" y="15577"/>
                    <a:pt x="9497" y="9497"/>
                  </a:cubicBezTo>
                  <a:cubicBezTo>
                    <a:pt x="15577" y="3416"/>
                    <a:pt x="23825" y="0"/>
                    <a:pt x="32424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207192" cy="1391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441646" y="1626189"/>
            <a:ext cx="8531143" cy="881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65"/>
              </a:lnSpc>
            </a:pPr>
            <a:r>
              <a:rPr lang="en-US" b="true" sz="5481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Frontend &amp; User Experience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60228" y="3420648"/>
            <a:ext cx="9894900" cy="4159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78"/>
              </a:lnSpc>
            </a:pPr>
            <a:r>
              <a:rPr lang="en-US" sz="271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The React-based frontend runs on port 3737, delivering a responsive and intuitive banking interface. Key UI components include an interactive dashboard with account summaries, smooth navigation menus, and structured forms for deposits, withdrawals, and transfers. Bootstrap ensures a clean, mobile-friendly layout, while HTML/CSS styling provides a professional look. Users can easily track balances and transaction histories through a seamless, user-centered design.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318382" y="204315"/>
            <a:ext cx="4497467" cy="4474980"/>
          </a:xfrm>
          <a:custGeom>
            <a:avLst/>
            <a:gdLst/>
            <a:ahLst/>
            <a:cxnLst/>
            <a:rect r="r" b="b" t="t" l="l"/>
            <a:pathLst>
              <a:path h="4474980" w="4497467">
                <a:moveTo>
                  <a:pt x="0" y="0"/>
                </a:moveTo>
                <a:lnTo>
                  <a:pt x="4497467" y="0"/>
                </a:lnTo>
                <a:lnTo>
                  <a:pt x="4497467" y="4474980"/>
                </a:lnTo>
                <a:lnTo>
                  <a:pt x="0" y="44749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42674" y="7324683"/>
            <a:ext cx="3177334" cy="3105844"/>
          </a:xfrm>
          <a:custGeom>
            <a:avLst/>
            <a:gdLst/>
            <a:ahLst/>
            <a:cxnLst/>
            <a:rect r="r" b="b" t="t" l="l"/>
            <a:pathLst>
              <a:path h="3105844" w="3177334">
                <a:moveTo>
                  <a:pt x="0" y="0"/>
                </a:moveTo>
                <a:lnTo>
                  <a:pt x="3177334" y="0"/>
                </a:lnTo>
                <a:lnTo>
                  <a:pt x="3177334" y="3105844"/>
                </a:lnTo>
                <a:lnTo>
                  <a:pt x="0" y="31058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24000"/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19025" y="3228240"/>
            <a:ext cx="12376386" cy="5138605"/>
            <a:chOff x="0" y="0"/>
            <a:chExt cx="3259624" cy="13533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59624" cy="1353377"/>
            </a:xfrm>
            <a:custGeom>
              <a:avLst/>
              <a:gdLst/>
              <a:ahLst/>
              <a:cxnLst/>
              <a:rect r="r" b="b" t="t" l="l"/>
              <a:pathLst>
                <a:path h="1353377" w="3259624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3287916" y="2441805"/>
            <a:ext cx="4557958" cy="6103846"/>
          </a:xfrm>
          <a:custGeom>
            <a:avLst/>
            <a:gdLst/>
            <a:ahLst/>
            <a:cxnLst/>
            <a:rect r="r" b="b" t="t" l="l"/>
            <a:pathLst>
              <a:path h="6103846" w="4557958">
                <a:moveTo>
                  <a:pt x="0" y="0"/>
                </a:moveTo>
                <a:lnTo>
                  <a:pt x="4557958" y="0"/>
                </a:lnTo>
                <a:lnTo>
                  <a:pt x="4557958" y="6103846"/>
                </a:lnTo>
                <a:lnTo>
                  <a:pt x="0" y="610384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65400" t="0" r="-13154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885282" y="1533652"/>
            <a:ext cx="8531143" cy="1222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240"/>
              </a:lnSpc>
            </a:pPr>
            <a:r>
              <a:rPr lang="en-US" b="true" sz="7701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Backend &amp; Database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95434" y="4271553"/>
            <a:ext cx="9894900" cy="2956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34"/>
              </a:lnSpc>
            </a:pPr>
            <a:r>
              <a:rPr lang="en-US" sz="255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The backend is built on Spring Boot running on port 9797, exposing RESTful APIs for all banking operations. Spring Data JPA with Hibernate handles ORM-based persistence, mapping Java entities to a MySQL relational database. REST endpoints manage accounts, transactions, and authentication, ensuring clean separation of concerns and scalable data access across the platform.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629741" y="3194621"/>
            <a:ext cx="13028518" cy="2466279"/>
            <a:chOff x="0" y="0"/>
            <a:chExt cx="3431379" cy="64955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31379" cy="649555"/>
            </a:xfrm>
            <a:custGeom>
              <a:avLst/>
              <a:gdLst/>
              <a:ahLst/>
              <a:cxnLst/>
              <a:rect r="r" b="b" t="t" l="l"/>
              <a:pathLst>
                <a:path h="649555" w="3431379">
                  <a:moveTo>
                    <a:pt x="30306" y="0"/>
                  </a:moveTo>
                  <a:lnTo>
                    <a:pt x="3401074" y="0"/>
                  </a:lnTo>
                  <a:cubicBezTo>
                    <a:pt x="3409111" y="0"/>
                    <a:pt x="3416820" y="3193"/>
                    <a:pt x="3422503" y="8876"/>
                  </a:cubicBezTo>
                  <a:cubicBezTo>
                    <a:pt x="3428186" y="14560"/>
                    <a:pt x="3431379" y="22268"/>
                    <a:pt x="3431379" y="30306"/>
                  </a:cubicBezTo>
                  <a:lnTo>
                    <a:pt x="3431379" y="619249"/>
                  </a:lnTo>
                  <a:cubicBezTo>
                    <a:pt x="3431379" y="627287"/>
                    <a:pt x="3428186" y="634995"/>
                    <a:pt x="3422503" y="640679"/>
                  </a:cubicBezTo>
                  <a:cubicBezTo>
                    <a:pt x="3416820" y="646362"/>
                    <a:pt x="3409111" y="649555"/>
                    <a:pt x="3401074" y="649555"/>
                  </a:cubicBezTo>
                  <a:lnTo>
                    <a:pt x="30306" y="649555"/>
                  </a:lnTo>
                  <a:cubicBezTo>
                    <a:pt x="22268" y="649555"/>
                    <a:pt x="14560" y="646362"/>
                    <a:pt x="8876" y="640679"/>
                  </a:cubicBezTo>
                  <a:cubicBezTo>
                    <a:pt x="3193" y="634995"/>
                    <a:pt x="0" y="627287"/>
                    <a:pt x="0" y="619249"/>
                  </a:cubicBezTo>
                  <a:lnTo>
                    <a:pt x="0" y="30306"/>
                  </a:lnTo>
                  <a:cubicBezTo>
                    <a:pt x="0" y="22268"/>
                    <a:pt x="3193" y="14560"/>
                    <a:pt x="8876" y="8876"/>
                  </a:cubicBezTo>
                  <a:cubicBezTo>
                    <a:pt x="14560" y="3193"/>
                    <a:pt x="22268" y="0"/>
                    <a:pt x="3030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431379" cy="687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629741" y="6060950"/>
            <a:ext cx="13028518" cy="2466279"/>
            <a:chOff x="0" y="0"/>
            <a:chExt cx="3431379" cy="6495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431379" cy="649555"/>
            </a:xfrm>
            <a:custGeom>
              <a:avLst/>
              <a:gdLst/>
              <a:ahLst/>
              <a:cxnLst/>
              <a:rect r="r" b="b" t="t" l="l"/>
              <a:pathLst>
                <a:path h="649555" w="3431379">
                  <a:moveTo>
                    <a:pt x="30306" y="0"/>
                  </a:moveTo>
                  <a:lnTo>
                    <a:pt x="3401074" y="0"/>
                  </a:lnTo>
                  <a:cubicBezTo>
                    <a:pt x="3409111" y="0"/>
                    <a:pt x="3416820" y="3193"/>
                    <a:pt x="3422503" y="8876"/>
                  </a:cubicBezTo>
                  <a:cubicBezTo>
                    <a:pt x="3428186" y="14560"/>
                    <a:pt x="3431379" y="22268"/>
                    <a:pt x="3431379" y="30306"/>
                  </a:cubicBezTo>
                  <a:lnTo>
                    <a:pt x="3431379" y="619249"/>
                  </a:lnTo>
                  <a:cubicBezTo>
                    <a:pt x="3431379" y="627287"/>
                    <a:pt x="3428186" y="634995"/>
                    <a:pt x="3422503" y="640679"/>
                  </a:cubicBezTo>
                  <a:cubicBezTo>
                    <a:pt x="3416820" y="646362"/>
                    <a:pt x="3409111" y="649555"/>
                    <a:pt x="3401074" y="649555"/>
                  </a:cubicBezTo>
                  <a:lnTo>
                    <a:pt x="30306" y="649555"/>
                  </a:lnTo>
                  <a:cubicBezTo>
                    <a:pt x="22268" y="649555"/>
                    <a:pt x="14560" y="646362"/>
                    <a:pt x="8876" y="640679"/>
                  </a:cubicBezTo>
                  <a:cubicBezTo>
                    <a:pt x="3193" y="634995"/>
                    <a:pt x="0" y="627287"/>
                    <a:pt x="0" y="619249"/>
                  </a:cubicBezTo>
                  <a:lnTo>
                    <a:pt x="0" y="30306"/>
                  </a:lnTo>
                  <a:cubicBezTo>
                    <a:pt x="0" y="22268"/>
                    <a:pt x="3193" y="14560"/>
                    <a:pt x="8876" y="8876"/>
                  </a:cubicBezTo>
                  <a:cubicBezTo>
                    <a:pt x="14560" y="3193"/>
                    <a:pt x="22268" y="0"/>
                    <a:pt x="3030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431379" cy="687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878428" y="1528914"/>
            <a:ext cx="8531143" cy="1116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23"/>
              </a:lnSpc>
            </a:pPr>
            <a:r>
              <a:rPr lang="en-US" b="true" sz="7031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Future Enhancements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110832" y="3465545"/>
            <a:ext cx="10066336" cy="1941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9"/>
              </a:lnSpc>
            </a:pPr>
            <a:r>
              <a:rPr lang="en-US" sz="20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Planned Improvements:</a:t>
            </a:r>
          </a:p>
          <a:p>
            <a:pPr algn="l" marL="0" indent="0" lvl="0">
              <a:lnSpc>
                <a:spcPts val="3129"/>
              </a:lnSpc>
            </a:pPr>
            <a:r>
              <a:rPr lang="en-US" sz="20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Loan management module with EMI calculation and approval workflows</a:t>
            </a:r>
          </a:p>
          <a:p>
            <a:pPr algn="l" marL="0" indent="0" lvl="0">
              <a:lnSpc>
                <a:spcPts val="3129"/>
              </a:lnSpc>
            </a:pPr>
            <a:r>
              <a:rPr lang="en-US" sz="20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Payment gateway integration (Razorpay / Stripe) for real-time payments</a:t>
            </a:r>
          </a:p>
          <a:p>
            <a:pPr algn="l" marL="0" indent="0" lvl="0">
              <a:lnSpc>
                <a:spcPts val="3129"/>
              </a:lnSpc>
            </a:pPr>
            <a:r>
              <a:rPr lang="en-US" sz="20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Email &amp; SMS notifications for transactions and alerts</a:t>
            </a:r>
          </a:p>
          <a:p>
            <a:pPr algn="l" marL="0" indent="0" lvl="0">
              <a:lnSpc>
                <a:spcPts val="3129"/>
              </a:lnSpc>
            </a:pPr>
            <a:r>
              <a:rPr lang="en-US" sz="20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Advanced analytics dashboard for spending insights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085368" y="6279042"/>
            <a:ext cx="10066336" cy="1941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9"/>
              </a:lnSpc>
            </a:pPr>
            <a:r>
              <a:rPr lang="en-US" sz="20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Scalability &amp; Security:</a:t>
            </a:r>
          </a:p>
          <a:p>
            <a:pPr algn="l" marL="0" indent="0" lvl="0">
              <a:lnSpc>
                <a:spcPts val="3129"/>
              </a:lnSpc>
            </a:pPr>
            <a:r>
              <a:rPr lang="en-US" sz="20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Stronger fraud detection using rule-based and ML-driven models</a:t>
            </a:r>
          </a:p>
          <a:p>
            <a:pPr algn="l" marL="0" indent="0" lvl="0">
              <a:lnSpc>
                <a:spcPts val="3129"/>
              </a:lnSpc>
            </a:pPr>
            <a:r>
              <a:rPr lang="en-US" sz="20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Two-factor authentication (2FA) and enhanced session management</a:t>
            </a:r>
          </a:p>
          <a:p>
            <a:pPr algn="l" marL="0" indent="0" lvl="0">
              <a:lnSpc>
                <a:spcPts val="3129"/>
              </a:lnSpc>
            </a:pPr>
            <a:r>
              <a:rPr lang="en-US" sz="20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Cloud deployment (AWS / Azure) with auto-scaling and CI/CD pipelines</a:t>
            </a:r>
          </a:p>
          <a:p>
            <a:pPr algn="l" marL="0" indent="0" lvl="0">
              <a:lnSpc>
                <a:spcPts val="3129"/>
              </a:lnSpc>
            </a:pPr>
            <a:r>
              <a:rPr lang="en-US" sz="20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Performance optimization and comprehensive audit logging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19025" y="3208683"/>
            <a:ext cx="9710781" cy="5138605"/>
            <a:chOff x="0" y="0"/>
            <a:chExt cx="2557572" cy="13533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57572" cy="1353377"/>
            </a:xfrm>
            <a:custGeom>
              <a:avLst/>
              <a:gdLst/>
              <a:ahLst/>
              <a:cxnLst/>
              <a:rect r="r" b="b" t="t" l="l"/>
              <a:pathLst>
                <a:path h="1353377" w="2557572">
                  <a:moveTo>
                    <a:pt x="40660" y="0"/>
                  </a:moveTo>
                  <a:lnTo>
                    <a:pt x="2516912" y="0"/>
                  </a:lnTo>
                  <a:cubicBezTo>
                    <a:pt x="2527696" y="0"/>
                    <a:pt x="2538038" y="4284"/>
                    <a:pt x="2545663" y="11909"/>
                  </a:cubicBezTo>
                  <a:cubicBezTo>
                    <a:pt x="2553288" y="19534"/>
                    <a:pt x="2557572" y="29876"/>
                    <a:pt x="2557572" y="40660"/>
                  </a:cubicBezTo>
                  <a:lnTo>
                    <a:pt x="2557572" y="1312718"/>
                  </a:lnTo>
                  <a:cubicBezTo>
                    <a:pt x="2557572" y="1323501"/>
                    <a:pt x="2553288" y="1333843"/>
                    <a:pt x="2545663" y="1341469"/>
                  </a:cubicBezTo>
                  <a:cubicBezTo>
                    <a:pt x="2538038" y="1349094"/>
                    <a:pt x="2527696" y="1353377"/>
                    <a:pt x="2516912" y="1353377"/>
                  </a:cubicBezTo>
                  <a:lnTo>
                    <a:pt x="40660" y="1353377"/>
                  </a:lnTo>
                  <a:cubicBezTo>
                    <a:pt x="29876" y="1353377"/>
                    <a:pt x="19534" y="1349094"/>
                    <a:pt x="11909" y="1341469"/>
                  </a:cubicBezTo>
                  <a:cubicBezTo>
                    <a:pt x="4284" y="1333843"/>
                    <a:pt x="0" y="1323501"/>
                    <a:pt x="0" y="1312718"/>
                  </a:cubicBezTo>
                  <a:lnTo>
                    <a:pt x="0" y="40660"/>
                  </a:lnTo>
                  <a:cubicBezTo>
                    <a:pt x="0" y="29876"/>
                    <a:pt x="4284" y="19534"/>
                    <a:pt x="11909" y="11909"/>
                  </a:cubicBezTo>
                  <a:cubicBezTo>
                    <a:pt x="19534" y="4284"/>
                    <a:pt x="29876" y="0"/>
                    <a:pt x="40660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557572" cy="1391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416426" y="483103"/>
            <a:ext cx="8312860" cy="8229600"/>
          </a:xfrm>
          <a:custGeom>
            <a:avLst/>
            <a:gdLst/>
            <a:ahLst/>
            <a:cxnLst/>
            <a:rect r="r" b="b" t="t" l="l"/>
            <a:pathLst>
              <a:path h="8229600" w="8312860">
                <a:moveTo>
                  <a:pt x="0" y="0"/>
                </a:moveTo>
                <a:lnTo>
                  <a:pt x="8312860" y="0"/>
                </a:lnTo>
                <a:lnTo>
                  <a:pt x="831286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47758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98662" y="1471663"/>
            <a:ext cx="8531143" cy="1284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54"/>
              </a:lnSpc>
            </a:pPr>
            <a:r>
              <a:rPr lang="en-US" b="true" sz="7994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Conclusion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73863" y="3951500"/>
            <a:ext cx="9201106" cy="3715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16"/>
              </a:lnSpc>
            </a:pPr>
            <a:r>
              <a:rPr lang="en-US" sz="241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The Secure Digital Banking Platform successfully delivers a robust, scalable solution for modern banking needs. Key achievements include secure user authentication, seamless account and transaction management, real-time deposit, withdrawal, and fund transfer capabilities, and a responsive React-based interface. The platform demonstrates effective integration of Spring Boot, Spring Security, and MySQL, providing a reliable foundation for future enhancements and real-world deployment.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0"/>
                </a:move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53953" y="3774447"/>
            <a:ext cx="7691481" cy="551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7"/>
              </a:lnSpc>
            </a:pPr>
            <a:r>
              <a:rPr lang="en-US" sz="3530">
                <a:solidFill>
                  <a:srgbClr val="000000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Thank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3774447"/>
            <a:ext cx="3698379" cy="2458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</a:pPr>
            <a:r>
              <a:rPr lang="en-US" b="true" sz="3532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You</a:t>
            </a:r>
          </a:p>
          <a:p>
            <a:pPr algn="l" marL="0" indent="0" lvl="0">
              <a:lnSpc>
                <a:spcPts val="3779"/>
              </a:lnSpc>
            </a:pPr>
            <a:r>
              <a:rPr lang="en-US" b="true" sz="3532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Mentor: Suramya Biswas</a:t>
            </a:r>
          </a:p>
          <a:p>
            <a:pPr algn="l" marL="0" indent="0" lvl="0">
              <a:lnSpc>
                <a:spcPts val="3779"/>
              </a:lnSpc>
            </a:pPr>
            <a:r>
              <a:rPr lang="en-US" b="true" sz="3532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Infosys Internship Project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DAHS6WSECek</dc:identifier>
  <dcterms:modified xsi:type="dcterms:W3CDTF">2011-08-01T06:04:30Z</dcterms:modified>
  <cp:revision>1</cp:revision>
  <dc:title>Secure Digital Banking Platform Project</dc:title>
</cp:coreProperties>
</file>